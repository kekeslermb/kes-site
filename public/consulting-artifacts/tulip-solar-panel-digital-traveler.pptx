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ulip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051560" cy="39433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325880"/>
            <a:ext cx="59436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Solar Panel Assembly
Digital Traveler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606040"/>
            <a:ext cx="5852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D2DEF0"/>
                </a:solidFill>
              </a:rPr>
              <a:t>Tulip Interfaces · Professional Services</a:t>
            </a:r>
          </a:p>
          <a:p>
            <a:r>
              <a:rPr sz="1600" b="0">
                <a:solidFill>
                  <a:srgbClr val="D2DEF0"/>
                </a:solidFill>
              </a:rPr>
              <a:t>General Manufacturing Solution Engineer Take-Home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3703320"/>
            <a:ext cx="5440680" cy="1417320"/>
          </a:xfrm>
          <a:prstGeom prst="roundRect">
            <a:avLst/>
          </a:prstGeom>
          <a:solidFill>
            <a:srgbClr val="F4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8679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45396"/>
                </a:solidFill>
              </a:rPr>
              <a:t>Objective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87952"/>
            <a:ext cx="4892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182134"/>
                </a:solidFill>
              </a:rPr>
              <a:t>Digitize paper-based assembly work instructions, defect logging, quality review, and production visibility for a discrete solar panel manufacturer.</a:t>
            </a:r>
          </a:p>
        </p:txBody>
      </p:sp>
      <p:pic>
        <p:nvPicPr>
          <p:cNvPr id="9" name="Picture 8" descr="start_b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1687664"/>
            <a:ext cx="5029200" cy="28425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37960" y="544068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D2DEF0"/>
                </a:solidFill>
              </a:rPr>
              <a:t>Prototype focus: simple, operator-first flow that improves data accuracy, traceability, and real-time visibility without overcomplicating shop-floor execution.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ulip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9144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11887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1. Current State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19202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8686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2134"/>
                </a:solidFill>
              </a:rPr>
              <a:t>Paper-based process creates delay and variability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73152" cy="1188720"/>
          </a:xfrm>
          <a:prstGeom prst="rect">
            <a:avLst/>
          </a:prstGeom>
          <a:solidFill>
            <a:srgbClr val="24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828800"/>
            <a:ext cx="318211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2134"/>
                </a:solidFill>
              </a:rPr>
              <a:t>Manual work instructions</a:t>
            </a:r>
          </a:p>
          <a:p>
            <a:r>
              <a:rPr sz="1200">
                <a:solidFill>
                  <a:srgbClr val="58667E"/>
                </a:solidFill>
              </a:rPr>
              <a:t>Operators use paper work instructions, making updates, version control, and step confirmation harder to manage.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69164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34840" y="1691640"/>
            <a:ext cx="73152" cy="1188720"/>
          </a:xfrm>
          <a:prstGeom prst="rect">
            <a:avLst/>
          </a:prstGeom>
          <a:solidFill>
            <a:srgbClr val="C4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1828800"/>
            <a:ext cx="318211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2134"/>
                </a:solidFill>
              </a:rPr>
              <a:t>Manual defect logging</a:t>
            </a:r>
          </a:p>
          <a:p>
            <a:r>
              <a:rPr sz="1200">
                <a:solidFill>
                  <a:srgbClr val="58667E"/>
                </a:solidFill>
              </a:rPr>
              <a:t>Defects are written on paper and reviewed later, delaying response and increasing transcription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691640"/>
            <a:ext cx="347472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691640"/>
            <a:ext cx="73152" cy="1188720"/>
          </a:xfrm>
          <a:prstGeom prst="rect">
            <a:avLst/>
          </a:prstGeom>
          <a:solidFill>
            <a:srgbClr val="3E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828800"/>
            <a:ext cx="3182112" cy="969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2134"/>
                </a:solidFill>
              </a:rPr>
              <a:t>Limited real-time visibility</a:t>
            </a:r>
          </a:p>
          <a:p>
            <a:r>
              <a:rPr sz="1200">
                <a:solidFill>
                  <a:srgbClr val="58667E"/>
                </a:solidFill>
              </a:rPr>
              <a:t>Supervisors and quality teams do not see production status, defect trends, or rework needs fast enough.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33756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45396"/>
                </a:solidFill>
              </a:rPr>
              <a:t>Current paper flow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1645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05072"/>
            <a:ext cx="1499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82134"/>
                </a:solidFill>
              </a:rPr>
              <a:t>Work Order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2414016" y="4041648"/>
            <a:ext cx="411480" cy="320040"/>
          </a:xfrm>
          <a:prstGeom prst="rightArrow">
            <a:avLst/>
          </a:prstGeom>
          <a:solidFill>
            <a:srgbClr val="3E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88920" y="3886200"/>
            <a:ext cx="1645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62072" y="4005072"/>
            <a:ext cx="1499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82134"/>
                </a:solidFill>
              </a:rPr>
              <a:t>Paper
Instruction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4471416" y="4041648"/>
            <a:ext cx="411480" cy="320040"/>
          </a:xfrm>
          <a:prstGeom prst="rightArrow">
            <a:avLst/>
          </a:prstGeom>
          <a:solidFill>
            <a:srgbClr val="3E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846320" y="3886200"/>
            <a:ext cx="1645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19472" y="4005072"/>
            <a:ext cx="1499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82134"/>
                </a:solidFill>
              </a:rPr>
              <a:t>Handwritten
Checks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528816" y="4041648"/>
            <a:ext cx="411480" cy="320040"/>
          </a:xfrm>
          <a:prstGeom prst="rightArrow">
            <a:avLst/>
          </a:prstGeom>
          <a:solidFill>
            <a:srgbClr val="3E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903720" y="3886200"/>
            <a:ext cx="1645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76872" y="4005072"/>
            <a:ext cx="1499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82134"/>
                </a:solidFill>
              </a:rPr>
              <a:t>Paper Defect
Report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8586216" y="4041648"/>
            <a:ext cx="411480" cy="320040"/>
          </a:xfrm>
          <a:prstGeom prst="rightArrow">
            <a:avLst/>
          </a:prstGeom>
          <a:solidFill>
            <a:srgbClr val="3E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961120" y="3886200"/>
            <a:ext cx="16459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34272" y="4005072"/>
            <a:ext cx="1499616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182134"/>
                </a:solidFill>
              </a:rPr>
              <a:t>Supervisor
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07492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45396"/>
                </a:solidFill>
              </a:rPr>
              <a:t>Relevant business/compliance requirements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48640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182134"/>
                </a:solidFill>
              </a:defRPr>
            </a:pPr>
            <a:r>
              <a:t>Reduce errors and inconsistent data entry</a:t>
            </a:r>
          </a:p>
          <a:p>
            <a:pPr>
              <a:spcAft>
                <a:spcPts val="0"/>
              </a:spcAft>
              <a:defRPr sz="1200">
                <a:solidFill>
                  <a:srgbClr val="182134"/>
                </a:solidFill>
              </a:defRPr>
            </a:pPr>
            <a:r>
              <a:t>Improve real-time defect visibility and response</a:t>
            </a:r>
          </a:p>
          <a:p>
            <a:pPr>
              <a:spcAft>
                <a:spcPts val="0"/>
              </a:spcAft>
              <a:defRPr sz="1200">
                <a:solidFill>
                  <a:srgbClr val="182134"/>
                </a:solidFill>
              </a:defRPr>
            </a:pPr>
            <a:r>
              <a:t>Link quality events to work order, serial number, station, and operator</a:t>
            </a:r>
          </a:p>
          <a:p>
            <a:pPr>
              <a:spcAft>
                <a:spcPts val="0"/>
              </a:spcAft>
              <a:defRPr sz="1200">
                <a:solidFill>
                  <a:srgbClr val="182134"/>
                </a:solidFill>
              </a:defRPr>
            </a:pPr>
            <a:r>
              <a:t>Support traceable, audit-ready review and disposition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6620256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FFFF"/>
                </a:solidFill>
              </a:rPr>
              <a:t>Kesler Aristide-Bonheur | Tulip Take-Home Exercise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ulip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9144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11887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2. Proposed Tulip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19202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2134"/>
                </a:solidFill>
              </a:rPr>
              <a:t>Digital traveler + guided assembly + quality response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600200"/>
            <a:ext cx="73152" cy="1234440"/>
          </a:xfrm>
          <a:prstGeom prst="rect">
            <a:avLst/>
          </a:prstGeom>
          <a:solidFill>
            <a:srgbClr val="3E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1" y="1737360"/>
            <a:ext cx="2450592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2134"/>
                </a:solidFill>
              </a:rPr>
              <a:t>Operator start</a:t>
            </a:r>
          </a:p>
          <a:p>
            <a:r>
              <a:rPr sz="1200">
                <a:solidFill>
                  <a:srgbClr val="58667E"/>
                </a:solidFill>
              </a:rPr>
              <a:t>Capture work order, panel serial number, station, and operator before execution begins.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11880" y="1600200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11880" y="1600200"/>
            <a:ext cx="73152" cy="1234440"/>
          </a:xfrm>
          <a:prstGeom prst="rect">
            <a:avLst/>
          </a:prstGeom>
          <a:solidFill>
            <a:srgbClr val="24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1737360"/>
            <a:ext cx="2450592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2134"/>
                </a:solidFill>
              </a:rPr>
              <a:t>Guided assembly</a:t>
            </a:r>
          </a:p>
          <a:p>
            <a:r>
              <a:rPr sz="1200">
                <a:solidFill>
                  <a:srgbClr val="58667E"/>
                </a:solidFill>
              </a:rPr>
              <a:t>Replace paper instructions with required step checks and pass/fail data capture.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1600200"/>
            <a:ext cx="27432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0" y="1600200"/>
            <a:ext cx="73152" cy="1234440"/>
          </a:xfrm>
          <a:prstGeom prst="rect">
            <a:avLst/>
          </a:prstGeom>
          <a:solidFill>
            <a:srgbClr val="C4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48272" y="1737360"/>
            <a:ext cx="2450592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2134"/>
                </a:solidFill>
              </a:rPr>
              <a:t>Defect logging</a:t>
            </a:r>
          </a:p>
          <a:p>
            <a:r>
              <a:rPr sz="1200">
                <a:solidFill>
                  <a:srgbClr val="58667E"/>
                </a:solidFill>
              </a:rPr>
              <a:t>Capture defect type, severity, notes, and link the issue back to the active panel/unit.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1600200"/>
            <a:ext cx="228600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555480" y="1600200"/>
            <a:ext cx="73152" cy="1234440"/>
          </a:xfrm>
          <a:prstGeom prst="rect">
            <a:avLst/>
          </a:prstGeom>
          <a:solidFill>
            <a:srgbClr val="3E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20072" y="1737360"/>
            <a:ext cx="1993392" cy="101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2134"/>
                </a:solidFill>
              </a:rPr>
              <a:t>Review + dashboard</a:t>
            </a:r>
          </a:p>
          <a:p>
            <a:r>
              <a:rPr sz="1200">
                <a:solidFill>
                  <a:srgbClr val="58667E"/>
                </a:solidFill>
              </a:rPr>
              <a:t>Route defects for disposition and show shift-level visibility metrics.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24612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45396"/>
                </a:solidFill>
              </a:rPr>
              <a:t>How Tulip adds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657600"/>
            <a:ext cx="5394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>
                <a:solidFill>
                  <a:srgbClr val="182134"/>
                </a:solidFill>
              </a:defRPr>
            </a:pPr>
            <a:r>
              <a:t>Guided, operator-friendly workflow</a:t>
            </a:r>
          </a:p>
          <a:p>
            <a:pPr>
              <a:spcAft>
                <a:spcPts val="0"/>
              </a:spcAft>
              <a:defRPr sz="1400">
                <a:solidFill>
                  <a:srgbClr val="182134"/>
                </a:solidFill>
              </a:defRPr>
            </a:pPr>
            <a:r>
              <a:t>Required fields to prevent incomplete records</a:t>
            </a:r>
          </a:p>
          <a:p>
            <a:pPr>
              <a:spcAft>
                <a:spcPts val="0"/>
              </a:spcAft>
              <a:defRPr sz="1400">
                <a:solidFill>
                  <a:srgbClr val="182134"/>
                </a:solidFill>
              </a:defRPr>
            </a:pPr>
            <a:r>
              <a:t>Real-time defect capture and escalation</a:t>
            </a:r>
          </a:p>
          <a:p>
            <a:pPr>
              <a:spcAft>
                <a:spcPts val="0"/>
              </a:spcAft>
              <a:defRPr sz="1400">
                <a:solidFill>
                  <a:srgbClr val="182134"/>
                </a:solidFill>
              </a:defRPr>
            </a:pPr>
            <a:r>
              <a:t>Digital disposition history for supervisors/quality</a:t>
            </a:r>
          </a:p>
          <a:p>
            <a:pPr>
              <a:spcAft>
                <a:spcPts val="0"/>
              </a:spcAft>
              <a:defRPr sz="1400">
                <a:solidFill>
                  <a:srgbClr val="182134"/>
                </a:solidFill>
              </a:defRPr>
            </a:pPr>
            <a:r>
              <a:t>Dashboard view of throughput, defects, rework, and response time</a:t>
            </a:r>
          </a:p>
        </p:txBody>
      </p:sp>
      <p:pic>
        <p:nvPicPr>
          <p:cNvPr id="22" name="Picture 21" descr="guided_b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034" y="3063240"/>
            <a:ext cx="4436170" cy="292608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20256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FFFF"/>
                </a:solidFill>
              </a:rPr>
              <a:t>Kesler Aristide-Bonheur | Tulip Take-Home Exercise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ulip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9144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11887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3. Data Captured &amp;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19202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2134"/>
                </a:solidFill>
              </a:rPr>
              <a:t>Data model supports traceability from execution to review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45920"/>
            <a:ext cx="3520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645920"/>
            <a:ext cx="73152" cy="1097280"/>
          </a:xfrm>
          <a:prstGeom prst="rect">
            <a:avLst/>
          </a:prstGeom>
          <a:solidFill>
            <a:srgbClr val="3E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783080"/>
            <a:ext cx="322783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2134"/>
                </a:solidFill>
              </a:rPr>
              <a:t>Unit / work order context</a:t>
            </a:r>
          </a:p>
          <a:p>
            <a:r>
              <a:rPr sz="1200">
                <a:solidFill>
                  <a:srgbClr val="58667E"/>
                </a:solidFill>
              </a:rPr>
              <a:t>Work order · panel serial number · station · operator · start/step completion context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645920"/>
            <a:ext cx="3520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645920"/>
            <a:ext cx="73152" cy="1097280"/>
          </a:xfrm>
          <a:prstGeom prst="rect">
            <a:avLst/>
          </a:prstGeom>
          <a:solidFill>
            <a:srgbClr val="24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783080"/>
            <a:ext cx="322783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2134"/>
                </a:solidFill>
              </a:rPr>
              <a:t>Inspection data</a:t>
            </a:r>
          </a:p>
          <a:p>
            <a:r>
              <a:rPr sz="1200">
                <a:solidFill>
                  <a:srgbClr val="58667E"/>
                </a:solidFill>
              </a:rPr>
              <a:t>Frame inspected · in-process check result · assembly notes · timestamp concept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645920"/>
            <a:ext cx="352044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645920"/>
            <a:ext cx="73152" cy="1097280"/>
          </a:xfrm>
          <a:prstGeom prst="rect">
            <a:avLst/>
          </a:prstGeom>
          <a:solidFill>
            <a:srgbClr val="C44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7031" y="1783080"/>
            <a:ext cx="3227832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82134"/>
                </a:solidFill>
              </a:rPr>
              <a:t>Defect data</a:t>
            </a:r>
          </a:p>
          <a:p>
            <a:r>
              <a:rPr sz="1200">
                <a:solidFill>
                  <a:srgbClr val="58667E"/>
                </a:solidFill>
              </a:rPr>
              <a:t>Defect type · severity · notes · linked work order/serial number · review disposition</a:t>
            </a:r>
          </a:p>
        </p:txBody>
      </p:sp>
      <p:pic>
        <p:nvPicPr>
          <p:cNvPr id="17" name="Picture 16" descr="start_b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023" y="3063240"/>
            <a:ext cx="4853353" cy="2743200"/>
          </a:xfrm>
          <a:prstGeom prst="rect">
            <a:avLst/>
          </a:prstGeom>
        </p:spPr>
      </p:pic>
      <p:pic>
        <p:nvPicPr>
          <p:cNvPr id="18" name="Picture 17" descr="defect_bor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3436" y="3063240"/>
            <a:ext cx="4186766" cy="274320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731520" y="5989320"/>
            <a:ext cx="10698480" cy="384048"/>
          </a:xfrm>
          <a:prstGeom prst="roundRect">
            <a:avLst/>
          </a:prstGeom>
          <a:solidFill>
            <a:srgbClr val="E9F5EE"/>
          </a:solidFill>
          <a:ln>
            <a:solidFill>
              <a:srgbClr val="3EB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6071616"/>
            <a:ext cx="10241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0">
                <a:solidFill>
                  <a:srgbClr val="182134"/>
                </a:solidFill>
              </a:rPr>
              <a:t>Design principle: make the right behavior the easiest behavior by requiring key data before the workflow can move forward.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6620256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FFFF"/>
                </a:solidFill>
              </a:rPr>
              <a:t>Kesler Aristide-Bonheur | Tulip Take-Home Exercise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ulip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9144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11887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4. Prototype Walkthrough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19202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2134"/>
                </a:solidFill>
              </a:rPr>
              <a:t>Two paths: normal completion or defect escalation</a:t>
            </a:r>
          </a:p>
        </p:txBody>
      </p:sp>
      <p:pic>
        <p:nvPicPr>
          <p:cNvPr id="8" name="Picture 7" descr="guided_b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016" y="1645920"/>
            <a:ext cx="3327127" cy="2194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38862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5396"/>
                </a:solidFill>
              </a:rPr>
              <a:t>1. Guided assembly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60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67E"/>
                </a:solidFill>
              </a:rPr>
              <a:t>Operator follows instructions and records the in-process check result.</a:t>
            </a:r>
          </a:p>
        </p:txBody>
      </p:sp>
      <p:pic>
        <p:nvPicPr>
          <p:cNvPr id="11" name="Picture 10" descr="defect_bord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4633" y="1645920"/>
            <a:ext cx="3349413" cy="21945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80560" y="38862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5396"/>
                </a:solidFill>
              </a:rPr>
              <a:t>2. Defect logging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4160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67E"/>
                </a:solidFill>
              </a:rPr>
              <a:t>If the check fails, the defect is captured with type, severity, and notes.</a:t>
            </a:r>
          </a:p>
        </p:txBody>
      </p:sp>
      <p:pic>
        <p:nvPicPr>
          <p:cNvPr id="14" name="Picture 13" descr="supervisor_bord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2167" y="1645920"/>
            <a:ext cx="3323865" cy="2194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75320" y="38862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245396"/>
                </a:solidFill>
              </a:rPr>
              <a:t>3. Supervisor / quality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416052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67E"/>
                </a:solidFill>
              </a:rPr>
              <a:t>Supervisor reviews the defect and records a disposition decision.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498348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4983480"/>
            <a:ext cx="73152" cy="868680"/>
          </a:xfrm>
          <a:prstGeom prst="rect">
            <a:avLst/>
          </a:prstGeom>
          <a:solidFill>
            <a:srgbClr val="3E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5120640"/>
            <a:ext cx="5056631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82134"/>
                </a:solidFill>
              </a:rPr>
              <a:t>Prototype note</a:t>
            </a:r>
          </a:p>
          <a:p>
            <a:r>
              <a:rPr sz="1050">
                <a:solidFill>
                  <a:srgbClr val="58667E"/>
                </a:solidFill>
              </a:rPr>
              <a:t>Representative values are shown on the review screen. In production, these would be populated from the defect record tied to the panel serial number.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983480"/>
            <a:ext cx="53492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983480"/>
            <a:ext cx="73152" cy="868680"/>
          </a:xfrm>
          <a:prstGeom prst="rect">
            <a:avLst/>
          </a:prstGeom>
          <a:solidFill>
            <a:srgbClr val="2453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1" y="5120640"/>
            <a:ext cx="5056631" cy="649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82134"/>
                </a:solidFill>
              </a:rPr>
              <a:t>Normal path</a:t>
            </a:r>
          </a:p>
          <a:p>
            <a:r>
              <a:rPr sz="1050">
                <a:solidFill>
                  <a:srgbClr val="58667E"/>
                </a:solidFill>
              </a:rPr>
              <a:t>If the in-process check passes, the operator can complete the step and move directly to production visibility.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6620256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FFFF"/>
                </a:solidFill>
              </a:rPr>
              <a:t>Kesler Aristide-Bonheur | Tulip Take-Home Exercise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58368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ulip_logo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64592"/>
            <a:ext cx="9144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17320" y="11887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</a:rPr>
              <a:t>5. KPIs &amp; Business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01400" y="192024"/>
            <a:ext cx="7315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07899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82134"/>
                </a:solidFill>
              </a:rPr>
              <a:t>Production visibility turns shop-floor activity into actionable metrics</a:t>
            </a:r>
          </a:p>
        </p:txBody>
      </p:sp>
      <p:pic>
        <p:nvPicPr>
          <p:cNvPr id="8" name="Picture 7" descr="dashboard_bor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073" y="1508760"/>
            <a:ext cx="4716053" cy="31089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" y="1600200"/>
            <a:ext cx="1691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709928"/>
            <a:ext cx="150876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EBE69"/>
                </a:solidFill>
              </a:rPr>
              <a:t>24</a:t>
            </a:r>
          </a:p>
          <a:p>
            <a:pPr algn="ctr"/>
            <a:r>
              <a:rPr sz="1000">
                <a:solidFill>
                  <a:srgbClr val="58667E"/>
                </a:solidFill>
              </a:rPr>
              <a:t>Units Completed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06040" y="1600200"/>
            <a:ext cx="1691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709928"/>
            <a:ext cx="150876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C44037"/>
                </a:solidFill>
              </a:rPr>
              <a:t>3</a:t>
            </a:r>
          </a:p>
          <a:p>
            <a:pPr algn="ctr"/>
            <a:r>
              <a:rPr sz="1000">
                <a:solidFill>
                  <a:srgbClr val="58667E"/>
                </a:solidFill>
              </a:rPr>
              <a:t>Open Defects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600200"/>
            <a:ext cx="16916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709928"/>
            <a:ext cx="150876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45396"/>
                </a:solidFill>
              </a:rPr>
              <a:t>2</a:t>
            </a:r>
          </a:p>
          <a:p>
            <a:pPr algn="ctr"/>
            <a:r>
              <a:rPr sz="1000">
                <a:solidFill>
                  <a:srgbClr val="58667E"/>
                </a:solidFill>
              </a:rPr>
              <a:t>Rework Required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06040"/>
            <a:ext cx="19202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715768"/>
            <a:ext cx="173736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3EBE69"/>
                </a:solidFill>
              </a:rPr>
              <a:t>92%</a:t>
            </a:r>
          </a:p>
          <a:p>
            <a:pPr algn="ctr"/>
            <a:r>
              <a:rPr sz="1000">
                <a:solidFill>
                  <a:srgbClr val="58667E"/>
                </a:solidFill>
              </a:rPr>
              <a:t>First Pass Yield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2606040"/>
            <a:ext cx="1920240" cy="7498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2715768"/>
            <a:ext cx="1737360" cy="566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45396"/>
                </a:solidFill>
              </a:rPr>
              <a:t>18m</a:t>
            </a:r>
          </a:p>
          <a:p>
            <a:pPr algn="ctr"/>
            <a:r>
              <a:rPr sz="1000">
                <a:solidFill>
                  <a:srgbClr val="58667E"/>
                </a:solidFill>
              </a:rPr>
              <a:t>Avg. Response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49039"/>
            <a:ext cx="4389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45396"/>
                </a:solidFill>
              </a:rPr>
              <a:t>Expected improvements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096512"/>
            <a:ext cx="48006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182134"/>
                </a:solidFill>
              </a:defRPr>
            </a:pPr>
            <a:r>
              <a:t>Reduced manual paper review and duplicate entry</a:t>
            </a:r>
          </a:p>
          <a:p>
            <a:pPr>
              <a:spcAft>
                <a:spcPts val="0"/>
              </a:spcAft>
              <a:defRPr sz="1200">
                <a:solidFill>
                  <a:srgbClr val="182134"/>
                </a:solidFill>
              </a:defRPr>
            </a:pPr>
            <a:r>
              <a:t>Faster defect response and supervisor visibility</a:t>
            </a:r>
          </a:p>
          <a:p>
            <a:pPr>
              <a:spcAft>
                <a:spcPts val="0"/>
              </a:spcAft>
              <a:defRPr sz="1200">
                <a:solidFill>
                  <a:srgbClr val="182134"/>
                </a:solidFill>
              </a:defRPr>
            </a:pPr>
            <a:r>
              <a:t>Better traceability by work order, serial number, station, and operator</a:t>
            </a:r>
          </a:p>
          <a:p>
            <a:pPr>
              <a:spcAft>
                <a:spcPts val="0"/>
              </a:spcAft>
              <a:defRPr sz="1200">
                <a:solidFill>
                  <a:srgbClr val="182134"/>
                </a:solidFill>
              </a:defRPr>
            </a:pPr>
            <a:r>
              <a:t>More complete quality records for review and continuous improvement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532120"/>
            <a:ext cx="10698480" cy="594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20" y="5532120"/>
            <a:ext cx="73152" cy="594360"/>
          </a:xfrm>
          <a:prstGeom prst="rect">
            <a:avLst/>
          </a:prstGeom>
          <a:solidFill>
            <a:srgbClr val="3EB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669280"/>
            <a:ext cx="10405872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82134"/>
                </a:solidFill>
              </a:rPr>
              <a:t>Production version note</a:t>
            </a:r>
          </a:p>
          <a:p>
            <a:r>
              <a:rPr sz="1050">
                <a:solidFill>
                  <a:srgbClr val="58667E"/>
                </a:solidFill>
              </a:rPr>
              <a:t>At the end of the flow, the operator or supervisor can return to the start screen to begin the next panel unit. In production, this supports continuous unit-by-unit execution across the shift.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6236208"/>
            <a:ext cx="10698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>
                <a:solidFill>
                  <a:srgbClr val="58667E"/>
                </a:solidFill>
              </a:rPr>
              <a:t>Closing: I focused on a simple operator-first workflow that improves data accuracy, traceability, and real-time visibility without overcomplicating the shop-floor experience.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65392"/>
            <a:ext cx="12191999" cy="292608"/>
          </a:xfrm>
          <a:prstGeom prst="rect">
            <a:avLst/>
          </a:prstGeom>
          <a:solidFill>
            <a:srgbClr val="1C2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6620256"/>
            <a:ext cx="9144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FFFF"/>
                </a:solidFill>
              </a:rPr>
              <a:t>Kesler Aristide-Bonheur | Tulip Take-Home Exercise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